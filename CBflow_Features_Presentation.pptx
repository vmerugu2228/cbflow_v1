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CBflow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B4AB"/>
                </a:solidFill>
                <a:latin typeface="Calibri"/>
              </a:defRPr>
            </a:pPr>
            <a:r>
              <a:t>Physical Design Automation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Calibri"/>
              </a:defRPr>
            </a:pPr>
            <a:r>
              <a:t>Version 2.0.0  |  Complete Feature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Python  /  Bash  /  TCL  /  Makefile   |   13 Design Flows   |   Multi-Vendor EDA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53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Architecture &amp;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30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Supported Design Flows (13 Flows)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07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Multi-Vendor EDA Tool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1188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850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CLI Command System (cbflow)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62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Workspace &amp; Run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6636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239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Configuration Hierarchy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353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LSF &amp; ML-Based Resource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5740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30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Release &amp; Version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907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Plugin System &amp; Extensibility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1188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6850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Metrics, Dashboard &amp; Observability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462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Validation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6636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239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Advanced Features &amp;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9748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114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Python 3.6+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20+ command modules (~400K lines)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CLI handlers (workspace, run, flow)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Makefile generator from TCL configs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TCL config parser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ML analytics for LSF optimization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Flask-based web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9748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54864" cy="411480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Bash / Zsh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Main CLI dispatcher (cbflow)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5 sub-command routers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Shell completion scripts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Environment setup &amp;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Cross-shell compatibility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9748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4864" cy="4114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4592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EDA tool command scripts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Flow/stage/subnode definitions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Vendor-specific tool integration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MMMC corner/mode configs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13 flow node configurations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69748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88720"/>
            <a:ext cx="54864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Makefile / Make 3.81+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Dynamic per-run Makefile generation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Stamp-based incremental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Git-based component versioning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Dependency graph management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Release automation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System Requirements:  Git 2.0+  |  Python 3.6+  |  Make 3.81+  |  Bash/Zsh 4.0+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Supported Design Flows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82296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Logic Synthesis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RTL-to-gate synthesis, technology mapping, timing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synthesis -&gt; export_data -&gt; release_data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54864" cy="658368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029968"/>
            <a:ext cx="822960" cy="45720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Floorplanning &amp; Power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58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Die size, macro placement, power grid, pin assignment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075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floorplan -&gt; export_data -&gt; release_data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88336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779776"/>
            <a:ext cx="82296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734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Place &amp;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Standard cell placement, CTS, routing, post-route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25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place -&gt; cts -&gt; cts_opt -&gt; route -&gt; pro -&gt; signoff -&gt; export -&gt; release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38144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38144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529584"/>
            <a:ext cx="82296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4838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Static Timing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758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Sign-off timing, setup/hold checks, path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753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timing -&gt; export_data -&gt; release_data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87952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87952"/>
            <a:ext cx="54864" cy="65836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279392"/>
            <a:ext cx="82296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33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Logic Equivalence Checking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Formal verification of RTL vs netlist equivalence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3251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compare -&gt; export_data -&gt; release_data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37759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937759"/>
            <a:ext cx="54864" cy="658368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5029199"/>
            <a:ext cx="822960" cy="45720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983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EM/IR Drop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2577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Electromigration, IR drop, power integrity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0749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analysis -&gt; export_data -&gt; release_data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687568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687568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5800" y="5779008"/>
            <a:ext cx="82296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Physical Verification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6007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DRC, LVS, ERC, PERC - full physical sign-off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8247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DRC, LVS, ERC, PERC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Supported Design Flows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82296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Engineering Change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Post-signoff functional/timing ECOs, incremental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eco -&gt; export_data -&gt; release_data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54864" cy="65836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029968"/>
            <a:ext cx="82296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Conformal Low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58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UPF/CPF power intent verification, isolation/retention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075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lp_verify -&gt; export_data -&gt; release_data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88336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54864" cy="658368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779776"/>
            <a:ext cx="822960" cy="45720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734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Power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Clock gating, power-aware optimization, leakage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25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power_opt -&gt; export_data -&gt; release_data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38144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38144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529584"/>
            <a:ext cx="82296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FCFP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4838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Full-Chip Floorplanning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758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Top-level integration, hierarchical macro 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753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floorplan -&gt; export_data -&gt; release_data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87952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87952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279392"/>
            <a:ext cx="82296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PHYV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33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Physical Verification (DFM)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Design-for-manufacturing rule checks, yield 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3251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verification -&gt; export_data -&gt; release_data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37759"/>
            <a:ext cx="11247120" cy="658368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937759"/>
            <a:ext cx="54864" cy="65836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5029199"/>
            <a:ext cx="82296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983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Final Circuit Timing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2577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Final sign-off timing with extracted parasitics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0749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 -&gt; timing -&gt; export_data -&gt; release_data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760720"/>
            <a:ext cx="112471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Merged Flow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Combine flows for license efficiency:  SYNTH_FP  |  SYNTH_FP_PNR  |  Custom combinations via merge_entry / merge_handoff / merge_parallel configs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Multi-Vendor EDA Tool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846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Synopsys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Fusion Compiler (FC) - SYNTH, FP, PNR, ECO, FCFP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PrimeTime (PT) - STA, POPT, FCT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Formality - LEC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RedHawk - EMIR analysis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IC Validator (ICV) - PV (DRC/LVS/ERC/PERC)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VC_LP - CLP low-power verification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Power Compiler - POPT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ICC - PNR (legacy)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474720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54864" cy="48463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Cadence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Genus - Synthesis (SYNTH)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Innovus - Floorplanning (FP) &amp; PNR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Tempus - Final Circuit Timing (FCT)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Extensible to additional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188720"/>
            <a:ext cx="3749039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188720"/>
            <a:ext cx="54864" cy="4846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28016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Tool Management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645920"/>
            <a:ext cx="34289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Vendor/tool/version namespacing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Per-flow tool configuration arrays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Version-controlled command files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Subnode handlers per tool variant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Automatic tool path resolution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Test mode: bypass EDA calls for dry runs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Hot-swappable tool backends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CLI Command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cbflow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Main CLI dispatcher  -  routes to workspace / run / flow sub-commands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11880" cy="43891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4864" cy="43891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cbflow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init - Initialize workspace for project/flow/block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create - Create new run with user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status - Show workspace and run status/summary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list-runs - List all runs in workspace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validate - Validate workspace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clean - Clean workspace artifacts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611880" cy="43891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54864" cy="43891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cbflow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all - Execute all stages with optional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 &lt;name&gt; - Run a single stage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status - Show run progress and details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logs - View/tail logs with level filtering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validate - Run validation checks on outputs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retrace - Re-trace a completed stage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lsf-status - LSF job status monitoring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clean - Clean run artifacts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611880" cy="43891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54864" cy="4389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cbflow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8600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types - List all 13 supported flow types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info &lt;type&gt; - Show flow details and stages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stages &lt;type&gt; - List stages for a flow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nodes - Show node dependency graph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check - Verify tool installation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config - Show/edit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plugin - Manage flow plugins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metrics / dashboard / version / 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Workspace &amp; Run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3774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Workspace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Project-scoped workspace initialization (project + flow + block)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Automatic directory structure creation per flow type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Multi-run support within single workspace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Phase-based organization (P0, P1, P2, P3)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Naming convention: P0_run_&lt;FLOW&gt;_run&lt;N&gt;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Workspace-level validation and health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" cy="237744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Run Execution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Node mode: each stage as separate execution node (default)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Flat mode: merged execution for license efficiency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Stage-level subnodes: setup -&gt; run -&gt; validate -&gt; finish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Stamp-based incremental re-execution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Dependency-aware stage ordering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Parallel stage execution where 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" cy="2560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Run Monitoring &amp;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Real-time run status with progress tracking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Log viewing with level filtering (ERROR, WARN, INFO)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Tail mode for live log streaming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LSF job status integration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 retrace for debugging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Per-stage timing and resource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3949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4864" cy="2560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Project Phase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P0 - Initial implementation and prototyping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P1 - Design refinement and optimization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P2 - Final implementation and sign-off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P3 - Production and manufacturing release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Exit milestones: FP_EXIT, PLACE_EXIT, CTS_EXIT, PRO_EXIT, BTO, MTO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Phase-aware configuration loading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Configuration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flow_config.tcl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Master flow config - 8 sections covering project, flows, tools, runtime, I/O, validation, release, advanced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" cy="64008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B"/>
                </a:solidFill>
                <a:latin typeface="Calibri"/>
              </a:defRPr>
            </a:pPr>
            <a:r>
              <a:t>dir_config.tcl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Directory structure definitions per flow type - standardized folder hierarchy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node_configs/*_config.tcl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Per-flow configs (13 files) - stages, subnodes, dependencies, tools, timeouts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lsf_config.tcl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LSF queue management - 5 queue tiers with ML-based resource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mmmc_config.tcl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Multi-mode multi-corner analysis - corner/mode definitions, analysis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54864" cy="64008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B"/>
                </a:solidFill>
                <a:latin typeface="Calibri"/>
              </a:defRPr>
            </a:pPr>
            <a:r>
              <a:t>validation_config.tcl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Validation rules - exit criteria, naming conventions, file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6858000" cy="64008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logo_config.tcl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Branding and company information configuration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1188720"/>
            <a:ext cx="411480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1188720"/>
            <a:ext cx="54864" cy="228600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128016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Configuration Scopes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1645920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Project-level: ravendrive, india, phoenix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Technology: gf_22nm, tsmc_7nm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Flow-level: per-flow overrides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Setup: common + project-specific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User: run-time user overrides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49039"/>
            <a:ext cx="411480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749039"/>
            <a:ext cx="54864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3840479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Version-Controlled Configs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206239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Config versions: v1.0.0, v1.0.1, workspace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Edit-restricted configs for governance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TCL-to-Python parser for tooling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Dynamic Makefile generation from TCL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Hierarchical variable 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LSF &amp; ML-Based Resource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8580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612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612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1612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612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Typical Workloads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612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00200"/>
            <a:ext cx="6858000" cy="438912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6459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6459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6459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645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inputs, validation, quick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459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75688"/>
            <a:ext cx="6858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1214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AB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16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1214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 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121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1214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synthesis, floorplan, basic PNR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214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2.0x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51176"/>
            <a:ext cx="6858000" cy="438912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5968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5968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32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59689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16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25968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2596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placement, routing, timing opt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968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4.0x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26664"/>
            <a:ext cx="6858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0723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XL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0723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64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307238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32 CPU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0723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30723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full-chip integration, hierarchical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7238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8.0x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02152"/>
            <a:ext cx="6858000" cy="438912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5478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Ultra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35478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128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35478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64+ CPU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5478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24 hrs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massive designs, extreme workloads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478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16.0x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1143000"/>
            <a:ext cx="393192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1143000"/>
            <a:ext cx="54864" cy="2743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123444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ML Analytics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1600200"/>
            <a:ext cx="3611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Scikit-learn based resource prediction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Historical job data analysis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Dynamic queue recommendation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Cost-performance optimization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Automatic queue right-sizing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114800"/>
            <a:ext cx="393192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4114800"/>
            <a:ext cx="54864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420624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LSF Management Features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4572000"/>
            <a:ext cx="3611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Job submission &amp; queue management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Max concurrency per queue tier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Priority-based scheduling (20-50)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Node-specific resource allocation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Cost factor tracking &amp;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Release &amp; Version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Git-Based Versioning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Git branches replace directory copies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60-90% disk space savings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Full Git history &amp; diff capabilities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Workspace isolation via Git worktrees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Component-level version tracking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Semantic versioning (major.minor.patch)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54864" cy="274320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Release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 mode: quick releases from current state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Config mode: controlled releases with JSON config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MANIFEST.json with 41+ component versions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Auto-generated CHANGELOG.md per release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Symlinked release management (current -&gt; vX.Y.Z)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Release diff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54864" cy="2743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Component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41 tracked components per release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Config flows, tech nodes, project configs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Utility modules versioned independently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Command modules per flow/vendor/tool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Component checkout &amp; promotion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release_versions.tcl for TCL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Version &amp; Release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8288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Create</a:t>
            </a:r>
            <a:br/>
            <a:r>
              <a:t>Workspace</a:t>
            </a:r>
          </a:p>
          <a:p>
            <a:pPr algn="ctr">
              <a:defRPr sz="900">
                <a:solidFill>
                  <a:srgbClr val="999999"/>
                </a:solidFill>
              </a:defRPr>
            </a:pPr>
            <a:r>
              <a:t>git_create_workspace</a:t>
            </a:r>
            <a:br/>
            <a:r>
              <a:t>DIR=&lt;component&gt;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754880"/>
            <a:ext cx="18288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Edit</a:t>
            </a:r>
            <a:br/>
            <a:r>
              <a:t>Files</a:t>
            </a:r>
          </a:p>
          <a:p>
            <a:pPr algn="ctr">
              <a:defRPr sz="900">
                <a:solidFill>
                  <a:srgbClr val="999999"/>
                </a:solidFill>
              </a:defRPr>
            </a:pPr>
            <a:r>
              <a:t>Modify files in</a:t>
            </a:r>
            <a:br/>
            <a:r>
              <a:t>worktree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4754880"/>
            <a:ext cx="18288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Commit</a:t>
            </a:r>
            <a:br/>
            <a:r>
              <a:t>Version</a:t>
            </a:r>
          </a:p>
          <a:p>
            <a:pPr algn="ctr">
              <a:defRPr sz="900">
                <a:solidFill>
                  <a:srgbClr val="999999"/>
                </a:solidFill>
              </a:defRPr>
            </a:pPr>
            <a:r>
              <a:t>git_commit_version</a:t>
            </a:r>
            <a:br/>
            <a:r>
              <a:t>TYPE=patch|minor|major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199" y="4754880"/>
            <a:ext cx="18288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Promote</a:t>
            </a:r>
            <a:br/>
            <a:r>
              <a:t>Version</a:t>
            </a:r>
          </a:p>
          <a:p>
            <a:pPr algn="ctr">
              <a:defRPr sz="900">
                <a:solidFill>
                  <a:srgbClr val="999999"/>
                </a:solidFill>
              </a:defRPr>
            </a:pPr>
            <a:r>
              <a:t>git_promote_version</a:t>
            </a:r>
            <a:br/>
            <a:r>
              <a:t>VERSION=vX.Y.Z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754880"/>
            <a:ext cx="18288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Create</a:t>
            </a:r>
            <a:br/>
            <a:r>
              <a:t>Release</a:t>
            </a:r>
          </a:p>
          <a:p>
            <a:pPr algn="ctr">
              <a:defRPr sz="900">
                <a:solidFill>
                  <a:srgbClr val="999999"/>
                </a:solidFill>
              </a:defRPr>
            </a:pPr>
            <a:r>
              <a:t>git_create_release</a:t>
            </a:r>
            <a:br/>
            <a:r>
              <a:t>TYPE=patch|minor|major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Plugin System &amp; Extensibility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Plugin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Scaffold templates for new flow types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Manifest-based plugin registration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Hot-pluggable flow extensions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Automatic integration with CLI system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Plugin discovery and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Version-aware plugin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9496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" cy="274320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Extensibility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Custom flow type creation (new node configs)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New vendor/tool backend integration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Custom stage definitions and dependencies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User-defined subnode handlers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Custom validation rules and exit criteria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Technology node library addition (gf_22nm, tsmc_7nm, ...)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39496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Documentation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6-section organized docs (Quick Start through Examples)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Architecture &amp; system design documentation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Developer guide for contributors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Configuration reference manual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Makefile &amp; Python API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22860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Developer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Shell completion scripts (Bash/Zsh)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Test mode for dry-run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Graph renderer for dependency visualization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TCL config parser for Python tooling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Log viewer with filtering and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Metrics, Dashboard &amp;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846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Metrics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Automated per-stage metrics gathering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Timing metrics (WNS, TNS, FEP)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Area and utilization tracking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Power consumption analysis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DRC/LVS violation counts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Runtime and memory usage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Metrics export (JSON/CSV)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Historical trend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54864" cy="484632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Flask-based real-time UI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Project-level visibility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Run status overview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 progress tracking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Interactive metric charts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Multi-project comparison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Launched via: cbflow flow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4846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54864" cy="4846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Logging &amp;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Unified logging configuration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Level-based filtering (ERROR/WARN/INFO/DEBUG)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Per-stage log isolation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Log viewer with tail mode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Centralized log aggregation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Structured log format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Integrated with LSF job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Validation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36576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36576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Pre-Run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Workspace configuration checks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Tool installation verification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Input file existence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Naming convention enforcement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Technology library availability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License pre-check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36576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54864" cy="365760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In-Run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Per-subnode validation (setup/run/validate/finish)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Stage-level exit criteria checking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Dependency satisfaction verification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Output file generation checks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Error detection and reporting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Incremental validation via stamps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36576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54864" cy="3657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Post-Run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Exit milestone verification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Cross-stage consistency checks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Metrics threshold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Release readiness assessment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Automated QoR reporting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Sign-off checklist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Exit Milestones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FP_EXIT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PLACE_EXIT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CTS_EXIT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PRO_EXIT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5623560"/>
            <a:ext cx="15544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Advanced Features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3774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Merged Flow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Combine SYNTH + FP + PNR into single run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merge_entry / merge_handoff / merge_parallel configs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License-efficient execution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54864" cy="237744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Multi-Mode Multi-Corner (MMMC)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Corner and mode definition framework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Cross-corner timing analysis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MMMC-aware flow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54864" cy="2377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Incremental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45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Stamp-based stage tracking in .make/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Skip completed stages on re-run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Selective stage re-execution (retrace)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4864" cy="2377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Multi-Project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Master project registry (master_projects.json)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Per-project tech/config scoping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Projects: ravendrive, india, phoenix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84048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840480"/>
            <a:ext cx="54864" cy="23774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Dependency Graph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Visual graph rendering of flow DAGs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Stage and subnode dependency tracking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Automatic execution ordering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3611880" cy="237744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840480"/>
            <a:ext cx="54864" cy="2377440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B"/>
                </a:solidFill>
                <a:latin typeface="Calibri"/>
              </a:defRPr>
            </a:pPr>
            <a:r>
              <a:t>Dynamic Makefile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TCL config parsed to Python dicts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Per-run Makefile auto-generated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999999"/>
                </a:solidFill>
                <a:latin typeface="Calibri"/>
              </a:rPr>
              <a:t>▸ </a:t>
            </a:r>
            <a:r>
              <a:rPr sz="1300">
                <a:solidFill>
                  <a:srgbClr val="CCCCCC"/>
                </a:solidFill>
                <a:latin typeface="Calibri"/>
              </a:rPr>
              <a:t>Target-per-stage with dependencies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Workflow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Initialize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cbflow workspace init</a:t>
            </a:r>
            <a:br/>
            <a:r>
              <a:t>--project ravendrive</a:t>
            </a:r>
            <a:br/>
            <a:r>
              <a:t>--flow PNR</a:t>
            </a:r>
            <a:br/>
            <a:r>
              <a:t>--block my_design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1280160"/>
            <a:ext cx="457200" cy="457200"/>
          </a:xfrm>
          <a:prstGeom prst="ellipse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AB"/>
                </a:solidFill>
                <a:latin typeface="Calibri"/>
              </a:defRPr>
            </a:pPr>
            <a:r>
              <a:t>Create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B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cbflow workspace create</a:t>
            </a:r>
            <a:br/>
            <a:r>
              <a:t>--config user.tcl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371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cd P0_run_PNR_run1</a:t>
            </a:r>
            <a:br/>
            <a:r>
              <a:t>cbflow run all</a:t>
            </a:r>
            <a:br/>
            <a:r>
              <a:t>--validate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371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6812279" y="128016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cbflow run status</a:t>
            </a:r>
            <a:br/>
            <a:r>
              <a:t>--details</a:t>
            </a:r>
            <a:br/>
            <a:r>
              <a:t>cbflow run logs --tail 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999" y="1371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0" y="128016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cbflow run validate</a:t>
            </a:r>
            <a:br/>
            <a:r>
              <a:t>cbflow run lsf-status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13716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744200" y="1280160"/>
            <a:ext cx="457200" cy="457200"/>
          </a:xfrm>
          <a:prstGeom prst="ellipse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AB"/>
                </a:solidFill>
                <a:latin typeface="Calibri"/>
              </a:defRPr>
            </a:pPr>
            <a:r>
              <a:t>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2377440"/>
            <a:ext cx="178308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00B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CCCCCC"/>
                </a:solidFill>
                <a:latin typeface="Courier New"/>
              </a:defRPr>
            </a:pPr>
            <a:r>
              <a:t>cbflow flow release</a:t>
            </a:r>
            <a:br/>
            <a:r>
              <a:t>create --type patch</a:t>
            </a:r>
            <a:br/>
            <a:r>
              <a:t>--desc 'Production'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Workspace Directory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workarea/</a:t>
            </a:r>
            <a:br/>
            <a:r>
              <a:t>  P0_run_PNR_run1/           # Phase_run_Flow_runN naming convention</a:t>
            </a:r>
            <a:br/>
            <a:r>
              <a:t>    .make/                    # Stamp files for incremental execution</a:t>
            </a:r>
            <a:br/>
            <a:r>
              <a:t>    logs/                     # Per-stage log files</a:t>
            </a:r>
            <a:br/>
            <a:r>
              <a:t>    reports/                  # Generated metrics and reports</a:t>
            </a:r>
            <a:br/>
            <a:r>
              <a:t>    outputs/                  # Stage output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CBflow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D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Design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Complete PD lifecycle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544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AB"/>
                </a:solidFill>
                <a:latin typeface="Calibri"/>
              </a:defRPr>
            </a:pPr>
            <a:r>
              <a:t>41+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86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51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Version-tracked per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Python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~400K lines of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28016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80160"/>
            <a:ext cx="269748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5544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C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286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LSF Queue Tiers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651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ML-optimized resource allocation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26974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D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Phases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P0 through P3 lifecycle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84048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840480"/>
            <a:ext cx="2697480" cy="54864"/>
          </a:xfrm>
          <a:prstGeom prst="rect">
            <a:avLst/>
          </a:prstGeom>
          <a:solidFill>
            <a:srgbClr val="00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1148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A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846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Exit Milestones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212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FP_EXIT through MTO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84048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1148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846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EDA Vendors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12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Synopsys + Cadence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3840480"/>
            <a:ext cx="2697480" cy="21945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3840480"/>
            <a:ext cx="269748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41148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C1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846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Config Sections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212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Hierarchical TCL configuration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CBflow v2.0.0  -  Production-Grade Physical Design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